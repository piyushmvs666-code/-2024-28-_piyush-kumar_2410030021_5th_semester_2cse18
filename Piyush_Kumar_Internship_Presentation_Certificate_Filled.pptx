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8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66928"/>
            <a:ext cx="16459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b="1" sz="1500">
                <a:solidFill>
                  <a:srgbClr val="FFFFFF"/>
                </a:solidFill>
                <a:latin typeface="Aptos Display"/>
              </a:defRPr>
            </a:pPr>
            <a:r>
              <a:t>IILM UNIVERSITY</a:t>
            </a:r>
          </a:p>
          <a:p>
            <a:pPr>
              <a:defRPr b="1" sz="1000">
                <a:solidFill>
                  <a:srgbClr val="DCE1EB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57400"/>
            <a:ext cx="2057400" cy="347472"/>
          </a:xfrm>
          <a:prstGeom prst="round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2103120"/>
            <a:ext cx="1911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00584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2234"/>
                </a:solidFill>
                <a:latin typeface="Aptos Display"/>
              </a:defRPr>
            </a:pPr>
            <a:r>
              <a:t>Data Analytics with Python &amp; Power BI</a:t>
            </a:r>
          </a:p>
          <a:p>
            <a:pPr>
              <a:defRPr sz="2000">
                <a:solidFill>
                  <a:srgbClr val="9C2A34"/>
                </a:solidFill>
                <a:latin typeface="Aptos"/>
              </a:defRPr>
            </a:pPr>
            <a:r>
              <a:t>8-Week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880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76F7A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843784"/>
            <a:ext cx="5394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latin typeface="Aptos"/>
              </a:defRPr>
            </a:pPr>
            <a:r>
              <a:t>Piyush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5387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76F7A"/>
                </a:solidFill>
                <a:latin typeface="Aptos"/>
              </a:defRPr>
            </a:pPr>
            <a:r>
              <a:t>ENROLLMENT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3502152"/>
            <a:ext cx="5394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latin typeface="Aptos"/>
              </a:defRPr>
            </a:pPr>
            <a:r>
              <a:t>2410030021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1970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76F7A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4160520"/>
            <a:ext cx="5394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latin typeface="Aptos"/>
              </a:defRPr>
            </a:pPr>
            <a:r>
              <a:t>B.Tech CSE • 5th Semester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85546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76F7A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4818888"/>
            <a:ext cx="5394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62A30"/>
                </a:solidFill>
                <a:latin typeface="Aptos"/>
              </a:defRPr>
            </a:pPr>
            <a:r>
              <a:t>EduSkills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1</a:t>
            </a:r>
          </a:p>
        </p:txBody>
      </p:sp>
      <p:pic>
        <p:nvPicPr>
          <p:cNvPr id="26" name="Picture 25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530352"/>
            <a:ext cx="56692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6F7A"/>
                </a:solidFill>
                <a:latin typeface="Aptos"/>
              </a:defRPr>
            </a:pPr>
            <a:r>
              <a:t>A structured 8-week learning journey in data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82880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1"/>
            <a:ext cx="306323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Data Analytics with Python &amp; Power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64008" cy="182880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21991"/>
            <a:ext cx="306323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8-week internship program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64008" cy="1828800"/>
          </a:xfrm>
          <a:prstGeom prst="rect">
            <a:avLst/>
          </a:prstGeom>
          <a:solidFill>
            <a:srgbClr val="5C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21991"/>
            <a:ext cx="306323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Python • Pandas • SQL • Power BI • 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Built foundations in Python for data analysis.</a:t>
            </a:r>
          </a:p>
          <a:p>
            <a:pPr>
              <a:spcAft>
                <a:spcPts val="10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Learned data cleaning and preprocessing with Pandas.</a:t>
            </a:r>
          </a:p>
          <a:p>
            <a:pPr>
              <a:spcAft>
                <a:spcPts val="10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Developed SQL skills for data extraction and analysis.</a:t>
            </a:r>
          </a:p>
          <a:p>
            <a:pPr>
              <a:spcAft>
                <a:spcPts val="10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Explored Power BI modeling, DAX, visualization and collaboration.</a:t>
            </a:r>
          </a:p>
          <a:p>
            <a:pPr>
              <a:spcAft>
                <a:spcPts val="10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Applied skills through real-world projects and a capstone dashboard.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6F7A"/>
                </a:solidFill>
                <a:latin typeface="Aptos"/>
              </a:defRPr>
            </a:pPr>
            <a:r>
              <a:t>Core capabilities developed during the internship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69164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Python for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Environment setup, core Python and analytical programming.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64008" cy="169164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Data 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3055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Cleaning and preprocessing using Pandas.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41732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417320"/>
            <a:ext cx="64008" cy="1691640"/>
          </a:xfrm>
          <a:prstGeom prst="rect">
            <a:avLst/>
          </a:prstGeom>
          <a:solidFill>
            <a:srgbClr val="5C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6002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SQL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13055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SQL fundamentals, advanced SQL techniques and data extraction.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64008" cy="1691640"/>
          </a:xfrm>
          <a:prstGeom prst="rect">
            <a:avLst/>
          </a:prstGeom>
          <a:solidFill>
            <a:srgbClr val="18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490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Business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7939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Power BI basics, data modeling, DAX and advanced visuals.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56616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566160"/>
            <a:ext cx="64008" cy="169164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7490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Integrated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27939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Python + SQL + Power BI integration and collaboration.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356616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3566160"/>
            <a:ext cx="64008" cy="169164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37490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Project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27939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Sales, customer behavior and e-commerce analytics projects.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Python for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6F7A"/>
                </a:solidFill>
                <a:latin typeface="Aptos"/>
              </a:defRPr>
            </a:pPr>
            <a:r>
              <a:t>From environment setup to practical data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645920" cy="347472"/>
          </a:xfrm>
          <a:prstGeom prst="round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71600"/>
            <a:ext cx="14996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PYTHON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577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Environment setup for data analytics.</a:t>
            </a:r>
          </a:p>
          <a:p>
            <a:pPr>
              <a:spcAft>
                <a:spcPts val="10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Core Python concepts for data analysis.</a:t>
            </a:r>
          </a:p>
          <a:p>
            <a:pPr>
              <a:spcAft>
                <a:spcPts val="10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Python for data extraction and analytical workflows.</a:t>
            </a:r>
          </a:p>
          <a:p>
            <a:pPr>
              <a:spcAft>
                <a:spcPts val="10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Python for data visualization.</a:t>
            </a:r>
          </a:p>
          <a:p>
            <a:pPr>
              <a:spcAft>
                <a:spcPts val="10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Integration of Python with Power BI.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37360"/>
            <a:ext cx="3566160" cy="566928"/>
          </a:xfrm>
          <a:prstGeom prst="roundRect">
            <a:avLst/>
          </a:prstGeom>
          <a:solidFill>
            <a:srgbClr val="18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856231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97480"/>
            <a:ext cx="3566160" cy="566928"/>
          </a:xfrm>
          <a:prstGeom prst="round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81635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657600"/>
            <a:ext cx="3566160" cy="566928"/>
          </a:xfrm>
          <a:prstGeom prst="round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77647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617720"/>
            <a:ext cx="3566160" cy="566928"/>
          </a:xfrm>
          <a:prstGeom prst="roundRect">
            <a:avLst/>
          </a:prstGeom>
          <a:solidFill>
            <a:srgbClr val="5C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4736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Data Cleaning, Pandas &amp;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6F7A"/>
                </a:solidFill>
                <a:latin typeface="Aptos"/>
              </a:defRPr>
            </a:pPr>
            <a:r>
              <a:t>Turning raw data into analysis-ready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182880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Data Cleaning &amp;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21991"/>
            <a:ext cx="4800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Pandas-based cleaning and preprocessing workflows for reliable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64008" cy="1828800"/>
          </a:xfrm>
          <a:prstGeom prst="rect">
            <a:avLst/>
          </a:prstGeom>
          <a:solidFill>
            <a:srgbClr val="18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SQL Fundamentals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21991"/>
            <a:ext cx="4800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SQL foundations for working with structured data and analytical queries.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64008" cy="182880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Advanced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70832"/>
            <a:ext cx="4800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Advanced SQL techniques and data extraction for deeper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64008" cy="1828800"/>
          </a:xfrm>
          <a:prstGeom prst="rect">
            <a:avLst/>
          </a:prstGeom>
          <a:solidFill>
            <a:srgbClr val="5C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Python +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70832"/>
            <a:ext cx="4800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Integration of Python and SQL for practical data extraction workflows.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Power BI &amp;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6F7A"/>
                </a:solidFill>
                <a:latin typeface="Aptos"/>
              </a:defRPr>
            </a:pPr>
            <a:r>
              <a:t>Building interactive dashboards and analytical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Power BI visualization — basics to advanced visualizations.</a:t>
            </a:r>
          </a:p>
          <a:p>
            <a:pPr>
              <a:spcAft>
                <a:spcPts val="10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Data modeling and DAX basics.</a:t>
            </a:r>
          </a:p>
          <a:p>
            <a:pPr>
              <a:spcAft>
                <a:spcPts val="10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Interactive reporting and dashboard design.</a:t>
            </a:r>
          </a:p>
          <a:p>
            <a:pPr>
              <a:spcAft>
                <a:spcPts val="10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Power BI Service and collaboration.</a:t>
            </a:r>
          </a:p>
          <a:p>
            <a:pPr>
              <a:spcAft>
                <a:spcPts val="10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Python &amp; Power BI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78308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78040" y="1783080"/>
            <a:ext cx="64008" cy="100584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965960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496312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₹ 8.4M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31352" y="178308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1352" y="1783080"/>
            <a:ext cx="64008" cy="100584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2496312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12.6K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84663" y="178308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84663" y="1783080"/>
            <a:ext cx="64008" cy="1005840"/>
          </a:xfrm>
          <a:prstGeom prst="rect">
            <a:avLst/>
          </a:prstGeom>
          <a:solidFill>
            <a:srgbClr val="5C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3" y="1965960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3263" y="2496312"/>
            <a:ext cx="7315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18.7%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977639"/>
            <a:ext cx="384048" cy="100584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73568" y="3337560"/>
            <a:ext cx="384048" cy="164592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31936" y="3703320"/>
            <a:ext cx="384048" cy="1280160"/>
          </a:xfrm>
          <a:prstGeom prst="rect">
            <a:avLst/>
          </a:prstGeom>
          <a:solidFill>
            <a:srgbClr val="5C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90304" y="2926080"/>
            <a:ext cx="384048" cy="2057400"/>
          </a:xfrm>
          <a:prstGeom prst="rect">
            <a:avLst/>
          </a:prstGeom>
          <a:solidFill>
            <a:srgbClr val="18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48672" y="3429000"/>
            <a:ext cx="384048" cy="155448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Visualization &amp; Integrated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6F7A"/>
                </a:solidFill>
                <a:latin typeface="Aptos"/>
              </a:defRPr>
            </a:pPr>
            <a:r>
              <a:t>Connecting tools to communicate insights clearly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2234"/>
                </a:solidFill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76F7A"/>
                </a:solidFill>
              </a:defRPr>
            </a:pPr>
            <a:r>
              <a:t>Prepare &amp; explore</a:t>
            </a:r>
          </a:p>
        </p:txBody>
      </p:sp>
      <p:sp>
        <p:nvSpPr>
          <p:cNvPr id="9" name="Chevron 8"/>
          <p:cNvSpPr/>
          <p:nvPr/>
        </p:nvSpPr>
        <p:spPr>
          <a:xfrm>
            <a:off x="3017520" y="2487168"/>
            <a:ext cx="411480" cy="457200"/>
          </a:xfrm>
          <a:prstGeom prst="chevron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205740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2234"/>
                </a:solidFill>
              </a:defRPr>
            </a:pPr>
            <a: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8892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76F7A"/>
                </a:solidFill>
              </a:defRPr>
            </a:pPr>
            <a:r>
              <a:t>Extract &amp; query</a:t>
            </a:r>
          </a:p>
        </p:txBody>
      </p:sp>
      <p:sp>
        <p:nvSpPr>
          <p:cNvPr id="13" name="Chevron 12"/>
          <p:cNvSpPr/>
          <p:nvPr/>
        </p:nvSpPr>
        <p:spPr>
          <a:xfrm>
            <a:off x="5852160" y="2487168"/>
            <a:ext cx="411480" cy="457200"/>
          </a:xfrm>
          <a:prstGeom prst="chevron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205740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2234"/>
                </a:solidFill>
              </a:defRPr>
            </a:pPr>
            <a:r>
              <a:t>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76F7A"/>
                </a:solidFill>
              </a:defRPr>
            </a:pPr>
            <a:r>
              <a:t>Model &amp; visualize</a:t>
            </a:r>
          </a:p>
        </p:txBody>
      </p:sp>
      <p:sp>
        <p:nvSpPr>
          <p:cNvPr id="17" name="Chevron 16"/>
          <p:cNvSpPr/>
          <p:nvPr/>
        </p:nvSpPr>
        <p:spPr>
          <a:xfrm>
            <a:off x="8686800" y="2487168"/>
            <a:ext cx="411480" cy="457200"/>
          </a:xfrm>
          <a:prstGeom prst="chevron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89720" y="205740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28600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82234"/>
                </a:solidFill>
              </a:defRPr>
            </a:pPr>
            <a:r>
              <a:t>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78892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76F7A"/>
                </a:solidFill>
              </a:defRPr>
            </a:pPr>
            <a:r>
              <a:t>Communicate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60520"/>
            <a:ext cx="1508760" cy="347472"/>
          </a:xfrm>
          <a:prstGeom prst="round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206240"/>
            <a:ext cx="13624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KEY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A30"/>
                </a:solidFill>
                <a:latin typeface="Aptos"/>
              </a:defRPr>
            </a:pPr>
            <a:r>
              <a:t>• Use Python for analytical exploration and visualization.</a:t>
            </a:r>
          </a:p>
          <a:p>
            <a:pPr>
              <a:spcAft>
                <a:spcPts val="1000"/>
              </a:spcAft>
              <a:defRPr sz="1600">
                <a:solidFill>
                  <a:srgbClr val="262A30"/>
                </a:solidFill>
                <a:latin typeface="Aptos"/>
              </a:defRPr>
            </a:pPr>
            <a:r>
              <a:t>• Use SQL for structured extraction and querying.</a:t>
            </a:r>
          </a:p>
          <a:p>
            <a:pPr>
              <a:spcAft>
                <a:spcPts val="1000"/>
              </a:spcAft>
              <a:defRPr sz="1600">
                <a:solidFill>
                  <a:srgbClr val="262A30"/>
                </a:solidFill>
                <a:latin typeface="Aptos"/>
              </a:defRPr>
            </a:pPr>
            <a:r>
              <a:t>• Use Power BI for modeling, interactive visuals and collaboration.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Real-World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6F7A"/>
                </a:solidFill>
                <a:latin typeface="Aptos"/>
              </a:defRPr>
            </a:pPr>
            <a:r>
              <a:t>Practical application of analytics skills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196596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01 • Sales Performance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4800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Applied data analytics concepts to study sales performance and generate business-oriented insights.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64008" cy="196596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02 • Customer Behavior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30552"/>
            <a:ext cx="4800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Worked with customer-oriented analytics to understand behavior patterns and support data-driven interpretation.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64008" cy="1965960"/>
          </a:xfrm>
          <a:prstGeom prst="rect">
            <a:avLst/>
          </a:prstGeom>
          <a:solidFill>
            <a:srgbClr val="5C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03 • Project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16552"/>
            <a:ext cx="4800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Practiced best practices and structured project workflow from data preparation through analysis and reporting.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0332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03320"/>
            <a:ext cx="64008" cy="1965960"/>
          </a:xfrm>
          <a:prstGeom prst="rect">
            <a:avLst/>
          </a:prstGeom>
          <a:solidFill>
            <a:srgbClr val="18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862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04 • Practical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16552"/>
            <a:ext cx="4800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Combined Python, SQL and Power BI concepts into an end-to-end analytics learning experience.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6F7A"/>
                </a:solidFill>
                <a:latin typeface="Aptos"/>
              </a:defRPr>
            </a:pPr>
            <a:r>
              <a:t>E-commerce Sales &amp; Customer Insights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234440" cy="347472"/>
          </a:xfrm>
          <a:prstGeom prst="round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17320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029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E-commerce Sales &amp;</a:t>
            </a:r>
            <a:br/>
            <a:r>
              <a:t>Customer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Capstone project completed as part of the internship.</a:t>
            </a:r>
          </a:p>
          <a:p>
            <a:pPr>
              <a:spcAft>
                <a:spcPts val="10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Brings together analytics, visualization and dashboarding skills.</a:t>
            </a:r>
          </a:p>
          <a:p>
            <a:pPr>
              <a:spcAft>
                <a:spcPts val="1000"/>
              </a:spcAft>
              <a:defRPr sz="1700">
                <a:solidFill>
                  <a:srgbClr val="262A30"/>
                </a:solidFill>
                <a:latin typeface="Aptos"/>
              </a:defRPr>
            </a:pPr>
            <a:r>
              <a:t>• Focuses on sales and customer insights in an e-commerce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64008" cy="114300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39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21991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₹ 4.8M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0876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508760"/>
            <a:ext cx="64008" cy="114300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691639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221991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18.2K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50876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46920" y="1508760"/>
            <a:ext cx="64008" cy="1143000"/>
          </a:xfrm>
          <a:prstGeom prst="rect">
            <a:avLst/>
          </a:prstGeom>
          <a:solidFill>
            <a:srgbClr val="5C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691639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221991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9.7K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389120"/>
            <a:ext cx="411480" cy="914400"/>
          </a:xfrm>
          <a:prstGeom prst="rect">
            <a:avLst/>
          </a:prstGeom>
          <a:solidFill>
            <a:srgbClr val="18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14032" y="3886200"/>
            <a:ext cx="411480" cy="141732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27264" y="4206240"/>
            <a:ext cx="411480" cy="109728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0496" y="3474720"/>
            <a:ext cx="411480" cy="1828800"/>
          </a:xfrm>
          <a:prstGeom prst="rect">
            <a:avLst/>
          </a:prstGeom>
          <a:solidFill>
            <a:srgbClr val="5C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53728" y="3749039"/>
            <a:ext cx="411480" cy="155448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66960" y="3246120"/>
            <a:ext cx="411480" cy="2057400"/>
          </a:xfrm>
          <a:prstGeom prst="rect">
            <a:avLst/>
          </a:prstGeom>
          <a:solidFill>
            <a:srgbClr val="18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Key Skills &amp;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6F7A"/>
                </a:solidFill>
                <a:latin typeface="Aptos"/>
              </a:defRPr>
            </a:pPr>
            <a:r>
              <a:t>Capabilities demonstrated through the internship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132588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848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Core Python for data analysis and visualization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64008" cy="132588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848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Data cleaning &amp; preprocessing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64008" cy="1325880"/>
          </a:xfrm>
          <a:prstGeom prst="rect">
            <a:avLst/>
          </a:prstGeom>
          <a:solidFill>
            <a:srgbClr val="5C9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850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Fundamentals, advanced techniques &amp; extraction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7180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971800"/>
            <a:ext cx="64008" cy="1325880"/>
          </a:xfrm>
          <a:prstGeom prst="rect">
            <a:avLst/>
          </a:prstGeom>
          <a:solidFill>
            <a:srgbClr val="18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546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850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Visualization, modeling, DAX &amp; 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572000"/>
            <a:ext cx="64008" cy="1325880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548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2852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Python + SQL + Power BI workflows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7200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572000"/>
            <a:ext cx="64008" cy="1325880"/>
          </a:xfrm>
          <a:prstGeom prst="rect">
            <a:avLst/>
          </a:prstGeom>
          <a:solidFill>
            <a:srgbClr val="D2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548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34"/>
                </a:solidFill>
                <a:latin typeface="Aptos Display"/>
              </a:defRPr>
            </a:pPr>
            <a:r>
              <a:t>Analytics Projects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852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A30"/>
                </a:solidFill>
                <a:latin typeface="Aptos"/>
              </a:defRPr>
            </a:pPr>
            <a:r>
              <a:t>Sales, customer behavior &amp; e-commerce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C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34"/>
                </a:solidFill>
                <a:latin typeface="Aptos Display"/>
              </a:defRPr>
            </a:pPr>
            <a:r>
              <a:t>Internship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6F7A"/>
                </a:solidFill>
                <a:latin typeface="Aptos"/>
              </a:defRPr>
            </a:pPr>
            <a:r>
              <a:t>Certificate issued by EduSkills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1967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76F7A"/>
                </a:solidFill>
                <a:latin typeface="Aptos"/>
              </a:defRPr>
            </a:pPr>
            <a:r>
              <a:t>IILM University • Internship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0138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6F7A"/>
                </a:solidFill>
              </a:defRPr>
            </a:pPr>
            <a:r>
              <a:t>11</a:t>
            </a:r>
          </a:p>
        </p:txBody>
      </p:sp>
      <p:pic>
        <p:nvPicPr>
          <p:cNvPr id="10" name="Picture 9" descr="cer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325880"/>
            <a:ext cx="7223760" cy="51114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146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2A64C"/>
                </a:solidFill>
                <a:latin typeface="Aptos"/>
              </a:defRPr>
            </a:pPr>
            <a:r>
              <a:t>Internship Presentation</a:t>
            </a:r>
          </a:p>
          <a:p>
            <a:pPr algn="ctr">
              <a:defRPr sz="1900">
                <a:solidFill>
                  <a:srgbClr val="FFFFFF"/>
                </a:solidFill>
                <a:latin typeface="Aptos"/>
              </a:defRPr>
            </a:pPr>
            <a:r>
              <a:t>Data Analytics with Python &amp;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16052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ptos"/>
              </a:defRPr>
            </a:pPr>
            <a:r>
              <a:t>Piyush Kumar • B.Tech CSE • IILM University, Greater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89204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7DCE4"/>
                </a:solidFill>
                <a:latin typeface="Aptos"/>
              </a:defRPr>
            </a:pPr>
            <a:r>
              <a:t>8-Week Internship • EduSkills Academy</a:t>
            </a:r>
          </a:p>
        </p:txBody>
      </p:sp>
      <p:pic>
        <p:nvPicPr>
          <p:cNvPr id="7" name="Picture 6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594360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